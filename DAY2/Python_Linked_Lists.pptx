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91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8016" cy="507034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595360" cy="1920240"/>
          </a:xfrm>
          <a:prstGeom prst="rect">
            <a:avLst/>
          </a:prstGeom>
          <a:solidFill>
            <a:srgbClr val="112233"/>
          </a:solidFill>
          <a:ln w="254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Linked Lists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Guide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45920" y="3017520"/>
            <a:ext cx="914400" cy="438912"/>
          </a:xfrm>
          <a:prstGeom prst="rect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3017520"/>
            <a:ext cx="274320" cy="438912"/>
          </a:xfrm>
          <a:prstGeom prst="rect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3236976"/>
            <a:ext cx="20116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1216" y="310896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82496" y="3017520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35808" y="3017520"/>
            <a:ext cx="914400" cy="438912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50208" y="3017520"/>
            <a:ext cx="274320" cy="438912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3236976"/>
            <a:ext cx="201168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310896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2384" y="3017520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25696" y="3017520"/>
            <a:ext cx="914400" cy="438912"/>
          </a:xfrm>
          <a:prstGeom prst="rect">
            <a:avLst/>
          </a:prstGeom>
          <a:solidFill>
            <a:srgbClr val="FFB347">
              <a:alpha val="80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0096" y="3017520"/>
            <a:ext cx="274320" cy="438912"/>
          </a:xfrm>
          <a:prstGeom prst="rect">
            <a:avLst/>
          </a:prstGeom>
          <a:solidFill>
            <a:srgbClr val="FFB347">
              <a:alpha val="60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3236976"/>
            <a:ext cx="201168" cy="0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310896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62272" y="3017520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15584" y="3017520"/>
            <a:ext cx="914400" cy="438912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3017520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508760" cy="329184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0332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12848" y="3703320"/>
            <a:ext cx="1508760" cy="329184"/>
          </a:xfrm>
          <a:prstGeom prst="rect">
            <a:avLst/>
          </a:prstGeom>
          <a:solidFill>
            <a:srgbClr val="00AAFF">
              <a:alpha val="70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12848" y="370332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77056" y="3703320"/>
            <a:ext cx="1508760" cy="329184"/>
          </a:xfrm>
          <a:prstGeom prst="rect">
            <a:avLst/>
          </a:prstGeom>
          <a:solidFill>
            <a:srgbClr val="FFB347">
              <a:alpha val="7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77056" y="370332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41264" y="3703320"/>
            <a:ext cx="1508760" cy="329184"/>
          </a:xfrm>
          <a:prstGeom prst="rect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370332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05472" y="3703320"/>
            <a:ext cx="1508760" cy="329184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370332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Problems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in Python – Training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50392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50392"/>
            <a:ext cx="41148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06424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92354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Linked List?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8952" y="1325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memory layout, vs Array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850392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50392"/>
            <a:ext cx="411480" cy="9144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1106424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92354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&amp; Singly Linked List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03320" y="1325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traversal, all core ops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44768" y="850392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850392"/>
            <a:ext cx="411480" cy="9144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106424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47688" y="92354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Linked List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47688" y="1325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pointer, bidirectional ops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1874520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1874520"/>
            <a:ext cx="411480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" y="2130552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" y="19476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Circular Linked List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8952" y="2350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Tail→Head link, use-cases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1874520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1874520"/>
            <a:ext cx="411480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9544" y="2130552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03320" y="19476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Operations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03320" y="2350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head, tail, middle – with diagrams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44768" y="1874520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4ADE8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1874520"/>
            <a:ext cx="411480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2130552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47688" y="19476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Operations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47688" y="2350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value, by position, edge cases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898648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2898648"/>
            <a:ext cx="41148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" y="3154680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8952" y="29718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Traversal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58952" y="33741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search, reverse print, length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2898648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0" y="2898648"/>
            <a:ext cx="411480" cy="91440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9544" y="3154680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703320" y="29718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a Linked List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703320" y="33741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+ recursive approaches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44768" y="2898648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44768" y="2898648"/>
            <a:ext cx="411480" cy="9144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53912" y="3154680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647688" y="29718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Operations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647688" y="33741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cycle, find middle, merge sorted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6032" y="3922776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56032" y="3922776"/>
            <a:ext cx="411480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" y="4178808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58952" y="39959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Problems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758952" y="439826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Cache, palindrome, nth from end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0" y="3922776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0400" y="3922776"/>
            <a:ext cx="411480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9544" y="4178808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703320" y="39959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 vs Array Comparison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3703320" y="439826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when to use which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44768" y="3922776"/>
            <a:ext cx="2816352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4ADE8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44768" y="3922776"/>
            <a:ext cx="411480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53912" y="4178808"/>
            <a:ext cx="39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647688" y="39959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Cheat Sheet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6647688" y="439826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cheat sheet + complexity table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Linked List?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8412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 — Nodes scattered in RAM, linked by pointers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(contiguous)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640080" cy="438912"/>
          </a:xfrm>
          <a:prstGeom prst="rect">
            <a:avLst/>
          </a:prstGeom>
          <a:solidFill>
            <a:srgbClr val="FF6B6B">
              <a:alpha val="7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630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" y="1463040"/>
            <a:ext cx="640080" cy="438912"/>
          </a:xfrm>
          <a:prstGeom prst="rect">
            <a:avLst/>
          </a:prstGeom>
          <a:solidFill>
            <a:srgbClr val="FF6B6B">
              <a:alpha val="7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4630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91056" y="1463040"/>
            <a:ext cx="640080" cy="438912"/>
          </a:xfrm>
          <a:prstGeom prst="rect">
            <a:avLst/>
          </a:prstGeom>
          <a:solidFill>
            <a:srgbClr val="FF6B6B">
              <a:alpha val="7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91056" y="14630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49424" y="1463040"/>
            <a:ext cx="640080" cy="438912"/>
          </a:xfrm>
          <a:prstGeom prst="rect">
            <a:avLst/>
          </a:prstGeom>
          <a:solidFill>
            <a:srgbClr val="FF6B6B">
              <a:alpha val="7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14630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" y="19385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  0x104  0x108  0x10C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0" y="1170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 (scattered)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1481328"/>
            <a:ext cx="731520" cy="384048"/>
          </a:xfrm>
          <a:prstGeom prst="rect">
            <a:avLst/>
          </a:prstGeom>
          <a:solidFill>
            <a:srgbClr val="00C9A7">
              <a:alpha val="75000"/>
            </a:srgbClr>
          </a:solidFill>
          <a:ln w="2286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4813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18836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0x200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120640" y="1965960"/>
            <a:ext cx="731520" cy="384048"/>
          </a:xfrm>
          <a:prstGeom prst="rect">
            <a:avLst/>
          </a:prstGeom>
          <a:solidFill>
            <a:srgbClr val="00AAFF">
              <a:alpha val="75000"/>
            </a:srgbClr>
          </a:solidFill>
          <a:ln w="22860">
            <a:solidFill>
              <a:srgbClr val="00A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9659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368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0x350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389120" y="2487168"/>
            <a:ext cx="731520" cy="384048"/>
          </a:xfrm>
          <a:prstGeom prst="rect">
            <a:avLst/>
          </a:prstGeom>
          <a:solidFill>
            <a:srgbClr val="FFB347">
              <a:alpha val="75000"/>
            </a:srgbClr>
          </a:solidFill>
          <a:ln w="22860">
            <a:solidFill>
              <a:srgbClr val="FFB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48716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288950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0x180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852160" y="1664208"/>
            <a:ext cx="731520" cy="384048"/>
          </a:xfrm>
          <a:prstGeom prst="rect">
            <a:avLst/>
          </a:prstGeom>
          <a:solidFill>
            <a:srgbClr val="FF6B6B">
              <a:alpha val="75000"/>
            </a:srgbClr>
          </a:solidFill>
          <a:ln w="2286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16642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0" y="20665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0x420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1673352"/>
            <a:ext cx="731520" cy="484632"/>
          </a:xfrm>
          <a:prstGeom prst="line">
            <a:avLst/>
          </a:prstGeom>
          <a:noFill/>
          <a:ln w="19050">
            <a:solidFill>
              <a:srgbClr val="6B8FA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852160" y="2157984"/>
            <a:ext cx="0" cy="521208"/>
          </a:xfrm>
          <a:prstGeom prst="line">
            <a:avLst/>
          </a:prstGeom>
          <a:noFill/>
          <a:ln w="19050">
            <a:solidFill>
              <a:srgbClr val="6B8FA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120640" y="2679192"/>
            <a:ext cx="731520" cy="0"/>
          </a:xfrm>
          <a:prstGeom prst="line">
            <a:avLst/>
          </a:prstGeom>
          <a:noFill/>
          <a:ln w="19050">
            <a:solidFill>
              <a:srgbClr val="6B8FA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56032" y="2907792"/>
            <a:ext cx="2084832" cy="19202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2907792"/>
            <a:ext cx="2084832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2935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Size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3337560"/>
            <a:ext cx="1901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Grows/shrinks at runtime.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pre-allocation needed.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2907792"/>
            <a:ext cx="2084832" cy="19202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68880" y="2907792"/>
            <a:ext cx="2084832" cy="34747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2935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Non-Contiguous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0320" y="3337560"/>
            <a:ext cx="1901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anywhere in memory,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pointers.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81728" y="2907792"/>
            <a:ext cx="2084832" cy="1920240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81728" y="2907792"/>
            <a:ext cx="2084832" cy="34747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935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O(1) Insert/Del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3337560"/>
            <a:ext cx="1901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known position.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shifting elements needed.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94576" y="2907792"/>
            <a:ext cx="2084832" cy="1920240"/>
          </a:xfrm>
          <a:prstGeom prst="rect">
            <a:avLst/>
          </a:prstGeom>
          <a:solidFill>
            <a:srgbClr val="112233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94576" y="2907792"/>
            <a:ext cx="2084832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67728" y="29352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O(n) Access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86016" y="3337560"/>
            <a:ext cx="1901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traverse from HEAD.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index access.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Structure &amp; Singly Linked List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850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Anatomy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1463040" cy="658368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4813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55648" y="1170432"/>
            <a:ext cx="1005840" cy="658368"/>
          </a:xfrm>
          <a:prstGeom prst="rect">
            <a:avLst/>
          </a:prstGeom>
          <a:solidFill>
            <a:srgbClr val="00C9A7">
              <a:alpha val="75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1704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55648" y="14813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" y="1865376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1865376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next node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Singly Linked List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6334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2852928"/>
            <a:ext cx="0" cy="164592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017520"/>
            <a:ext cx="841248" cy="457200"/>
          </a:xfrm>
          <a:prstGeom prst="rect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017520"/>
            <a:ext cx="274320" cy="457200"/>
          </a:xfrm>
          <a:prstGeom prst="rect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3246120"/>
            <a:ext cx="1828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311810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0175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554480" y="3017520"/>
            <a:ext cx="841248" cy="457200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95728" y="3017520"/>
            <a:ext cx="274320" cy="457200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0048" y="3246120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311810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91056" y="30175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52928" y="3017520"/>
            <a:ext cx="841248" cy="457200"/>
          </a:xfrm>
          <a:prstGeom prst="rect">
            <a:avLst/>
          </a:prstGeom>
          <a:solidFill>
            <a:srgbClr val="FFB347">
              <a:alpha val="80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94176" y="3017520"/>
            <a:ext cx="274320" cy="457200"/>
          </a:xfrm>
          <a:prstGeom prst="rect">
            <a:avLst/>
          </a:prstGeom>
          <a:solidFill>
            <a:srgbClr val="FFB347">
              <a:alpha val="60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68496" y="3246120"/>
            <a:ext cx="182880" cy="0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86784" y="311810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89504" y="30175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51376" y="3017520"/>
            <a:ext cx="841248" cy="457200"/>
          </a:xfrm>
          <a:prstGeom prst="rect">
            <a:avLst/>
          </a:prstGeom>
          <a:solidFill>
            <a:srgbClr val="FF6B6B">
              <a:alpha val="80000"/>
            </a:srgbClr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2624" y="3017520"/>
            <a:ext cx="274320" cy="457200"/>
          </a:xfrm>
          <a:prstGeom prst="rect">
            <a:avLst/>
          </a:prstGeom>
          <a:solidFill>
            <a:srgbClr val="FF6B6B">
              <a:alpha val="60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66944" y="3246120"/>
            <a:ext cx="18288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85232" y="311810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87952" y="30175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49824" y="3017520"/>
            <a:ext cx="841248" cy="4572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0175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64992" y="3511296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3858768"/>
            <a:ext cx="4297680" cy="1170432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4048" y="389534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class definition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" y="4096512"/>
            <a:ext cx="405993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data   # value stored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   # pointer to next node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SinglyLinkedList: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   # HEAD starts as empty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850392"/>
            <a:ext cx="4160520" cy="2331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850392"/>
            <a:ext cx="64008" cy="2331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90525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Singly LL Properties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01184" y="13167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has: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65392" y="131673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ONE next pointer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01184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pointer: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65392" y="164592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to the list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01184" y="1975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pointer: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65392" y="197510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node; next = None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01184" y="2304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65392" y="230428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only (HEAD → TAIL)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01184" y="26334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Head: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565392" y="263347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update HEAD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01184" y="29626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Tail: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65392" y="296265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traverse to end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901184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565392" y="329184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linear scan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01184" y="3621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Memory/node: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65392" y="362102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+ 1 pointer overhead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54880" y="3310128"/>
            <a:ext cx="4160520" cy="1719072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882896" y="334670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Traverse the list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882896" y="3547872"/>
            <a:ext cx="3913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traverse(self):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self.head   # start at 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current:        # loop until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print(current.data, end=' → 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current.next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print('NULL')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10 → 20 → 30 → 40 → NULL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Operations – Step-by-Step Diagrams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850392"/>
            <a:ext cx="8631936" cy="1481328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50392"/>
            <a:ext cx="64008" cy="14813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86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at HEAD  →  O(1)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2161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07008" y="1143000"/>
            <a:ext cx="777240" cy="402336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4248" y="1143000"/>
            <a:ext cx="274320" cy="402336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58568" y="1344168"/>
            <a:ext cx="13716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12161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43584" y="1143000"/>
            <a:ext cx="704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95728" y="1143000"/>
            <a:ext cx="777240" cy="402336"/>
          </a:xfrm>
          <a:prstGeom prst="rect">
            <a:avLst/>
          </a:prstGeom>
          <a:solidFill>
            <a:srgbClr val="FFB347">
              <a:alpha val="80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1143000"/>
            <a:ext cx="274320" cy="402336"/>
          </a:xfrm>
          <a:prstGeom prst="rect">
            <a:avLst/>
          </a:prstGeom>
          <a:solidFill>
            <a:srgbClr val="FFB347">
              <a:alpha val="60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7288" y="1344168"/>
            <a:ext cx="137160" cy="0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12161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32304" y="1143000"/>
            <a:ext cx="704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84448" y="1143000"/>
            <a:ext cx="777240" cy="402336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143000"/>
            <a:ext cx="704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" y="1591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new_node(10) → next = HEAD → HEAD = new_node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121615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42432" y="1143000"/>
            <a:ext cx="676656" cy="402336"/>
          </a:xfrm>
          <a:prstGeom prst="rect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1143000"/>
            <a:ext cx="2743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1344168"/>
            <a:ext cx="10972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12161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79008" y="1143000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03136" y="1143000"/>
            <a:ext cx="676656" cy="402336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9792" y="1143000"/>
            <a:ext cx="274320" cy="402336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54112" y="1344168"/>
            <a:ext cx="109728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99248" y="12161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39712" y="1143000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863840" y="1143000"/>
            <a:ext cx="676656" cy="402336"/>
          </a:xfrm>
          <a:prstGeom prst="rect">
            <a:avLst/>
          </a:prstGeom>
          <a:solidFill>
            <a:srgbClr val="FFB347">
              <a:alpha val="80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0496" y="1143000"/>
            <a:ext cx="274320" cy="402336"/>
          </a:xfrm>
          <a:prstGeom prst="rect">
            <a:avLst/>
          </a:prstGeom>
          <a:solidFill>
            <a:srgbClr val="FFB347">
              <a:alpha val="60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14816" y="1344168"/>
            <a:ext cx="109728" cy="0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9952" y="12161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00416" y="1143000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924544" y="1143000"/>
            <a:ext cx="676656" cy="402336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143000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42432" y="1572768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2423160"/>
            <a:ext cx="8631936" cy="12801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6032" y="2423160"/>
            <a:ext cx="64008" cy="128016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2459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at TAIL  →  O(n)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20624" y="2788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207008" y="2715768"/>
            <a:ext cx="777240" cy="402336"/>
          </a:xfrm>
          <a:prstGeom prst="rect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84248" y="2715768"/>
            <a:ext cx="2743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58568" y="2916936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31136" y="27889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243584" y="2715768"/>
            <a:ext cx="704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395728" y="2715768"/>
            <a:ext cx="777240" cy="402336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72968" y="2715768"/>
            <a:ext cx="274320" cy="402336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47288" y="2916936"/>
            <a:ext cx="13716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9856" y="27889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432304" y="2715768"/>
            <a:ext cx="704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584448" y="2715768"/>
            <a:ext cx="777240" cy="402336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21024" y="2715768"/>
            <a:ext cx="704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20624" y="31638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to last node → last.next = new_node(30)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029200" y="27889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742432" y="2715768"/>
            <a:ext cx="676656" cy="402336"/>
          </a:xfrm>
          <a:prstGeom prst="rect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19088" y="2715768"/>
            <a:ext cx="2743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93408" y="2916936"/>
            <a:ext cx="109728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38544" y="27889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779008" y="2715768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803136" y="2715768"/>
            <a:ext cx="676656" cy="402336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79792" y="2715768"/>
            <a:ext cx="274320" cy="402336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54112" y="2916936"/>
            <a:ext cx="109728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99248" y="27889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839712" y="2715768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863840" y="2715768"/>
            <a:ext cx="676656" cy="402336"/>
          </a:xfrm>
          <a:prstGeom prst="rect">
            <a:avLst/>
          </a:prstGeom>
          <a:solidFill>
            <a:srgbClr val="FF6B6B">
              <a:alpha val="80000"/>
            </a:srgbClr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40496" y="2715768"/>
            <a:ext cx="274320" cy="402336"/>
          </a:xfrm>
          <a:prstGeom prst="rect">
            <a:avLst/>
          </a:prstGeom>
          <a:solidFill>
            <a:srgbClr val="FF6B6B">
              <a:alpha val="60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14816" y="2916936"/>
            <a:ext cx="109728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59952" y="27889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900416" y="2715768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924544" y="2715768"/>
            <a:ext cx="676656" cy="402336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61120" y="2715768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187184" y="3145536"/>
            <a:ext cx="676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TAIL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56032" y="3794760"/>
            <a:ext cx="8631936" cy="1207008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384048" y="383133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Insert at HEAD, TAIL, and at Position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84048" y="4032504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insert_at_head(self, data):               def insert_at_tail(self, data):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= Node(data)                               new = Node(data)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new.next = self.head                           if not self.head: self.head = new; 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self.head = new                                cur = self.head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while cur.next: cur = cur.next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insert_at_pos(self, data, pos):               cur.next = new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= Node(data)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pos == 0: self.insert_at_head(data); 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self.head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range(pos-1):                 # walk to (pos-1)th node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cur: return                  # position out of range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cur.next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new.next = cur.next;  cur.next = new    # stitch new node 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Operations – By Value &amp; By Position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850392"/>
            <a:ext cx="8631936" cy="18745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50392"/>
            <a:ext cx="64008" cy="18745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869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by Value  (e.g. delete node with value 30)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22529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61872" y="1188720"/>
            <a:ext cx="960120" cy="457200"/>
          </a:xfrm>
          <a:prstGeom prst="rect">
            <a:avLst/>
          </a:prstGeom>
          <a:solidFill>
            <a:srgbClr val="00C9A7">
              <a:alpha val="75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1188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21992" y="1417320"/>
            <a:ext cx="457200" cy="0"/>
          </a:xfrm>
          <a:prstGeom prst="line">
            <a:avLst/>
          </a:prstGeom>
          <a:noFill/>
          <a:ln w="22860">
            <a:solidFill>
              <a:srgbClr val="6B8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32588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79192" y="1188720"/>
            <a:ext cx="960120" cy="457200"/>
          </a:xfrm>
          <a:prstGeom prst="rect">
            <a:avLst/>
          </a:prstGeom>
          <a:solidFill>
            <a:srgbClr val="00AAFF">
              <a:alpha val="75000"/>
            </a:srgbClr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188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39312" y="1417320"/>
            <a:ext cx="457200" cy="0"/>
          </a:xfrm>
          <a:prstGeom prst="line">
            <a:avLst/>
          </a:prstGeom>
          <a:noFill/>
          <a:ln w="22860">
            <a:solidFill>
              <a:srgbClr val="6B8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41064" y="132588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96512" y="1188720"/>
            <a:ext cx="960120" cy="457200"/>
          </a:xfrm>
          <a:prstGeom prst="rect">
            <a:avLst/>
          </a:prstGeom>
          <a:solidFill>
            <a:srgbClr val="FF4444">
              <a:alpha val="85000"/>
            </a:srgbClr>
          </a:solidFill>
          <a:ln w="38100">
            <a:solidFill>
              <a:srgbClr val="F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96512" y="1188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6632" y="1417320"/>
            <a:ext cx="457200" cy="0"/>
          </a:xfrm>
          <a:prstGeom prst="line">
            <a:avLst/>
          </a:prstGeom>
          <a:noFill/>
          <a:ln w="2286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132588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96512" y="166420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13832" y="1188720"/>
            <a:ext cx="960120" cy="457200"/>
          </a:xfrm>
          <a:prstGeom prst="rect">
            <a:avLst/>
          </a:prstGeom>
          <a:solidFill>
            <a:srgbClr val="FFB347">
              <a:alpha val="75000"/>
            </a:srgbClr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1188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31152" y="1188720"/>
            <a:ext cx="960120" cy="457200"/>
          </a:xfrm>
          <a:prstGeom prst="rect">
            <a:avLst/>
          </a:prstGeom>
          <a:solidFill>
            <a:srgbClr val="000000">
              <a:alpha val="35000"/>
            </a:srgbClr>
          </a:solidFill>
          <a:ln w="25400">
            <a:solidFill>
              <a:srgbClr val="6B8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1188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" y="197510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" y="199339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prev.next = node_to_delete.next   (skip over deleted node)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61872" y="2231136"/>
            <a:ext cx="960120" cy="457200"/>
          </a:xfrm>
          <a:prstGeom prst="rect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1992" y="2231136"/>
            <a:ext cx="274320" cy="457200"/>
          </a:xfrm>
          <a:prstGeom prst="rect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96312" y="2459736"/>
            <a:ext cx="18288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3317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98448" y="2231136"/>
            <a:ext cx="886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9192" y="2231136"/>
            <a:ext cx="960120" cy="457200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39312" y="2231136"/>
            <a:ext cx="274320" cy="457200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13632" y="2459736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23317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15768" y="2231136"/>
            <a:ext cx="886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096512" y="2231136"/>
            <a:ext cx="960120" cy="457200"/>
          </a:xfrm>
          <a:prstGeom prst="rect">
            <a:avLst/>
          </a:prstGeom>
          <a:solidFill>
            <a:srgbClr val="FFB347">
              <a:alpha val="80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56632" y="2231136"/>
            <a:ext cx="274320" cy="457200"/>
          </a:xfrm>
          <a:prstGeom prst="rect">
            <a:avLst/>
          </a:prstGeom>
          <a:solidFill>
            <a:srgbClr val="FFB347">
              <a:alpha val="60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30952" y="2459736"/>
            <a:ext cx="182880" cy="0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233172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33088" y="2231136"/>
            <a:ext cx="886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513832" y="2231136"/>
            <a:ext cx="960120" cy="4572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6B8F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0408" y="2231136"/>
            <a:ext cx="886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11296" y="2715768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removed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834640"/>
            <a:ext cx="8631936" cy="2176272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4048" y="28712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Delete by value &amp; by position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84048" y="3072384"/>
            <a:ext cx="832104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delete_by_value(self, val):              def delete_at_pos(self, pos):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self.head: return                     if not self.head: 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self.head.data == val:                    if pos == 0: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self.head.next; return           self.head = self.head.next; 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self.head                               cur = self.head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cur.next:                               for _ in range(pos-1):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cur.next.data == val:                      if not cur.next: return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cur.next = cur.next.next                  cur = cur.next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                               if cur.next: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cur.next                                cur.next = cur.next.next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value not found — do nothing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Search, Length &amp; Reverse Traversal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value 30 — linear scan from HEAD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2798064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261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check 10 ≠ 30 → move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645920"/>
            <a:ext cx="530352" cy="411480"/>
          </a:xfrm>
          <a:prstGeom prst="rect">
            <a:avLst/>
          </a:prstGeom>
          <a:solidFill>
            <a:srgbClr val="FFB347">
              <a:alpha val="85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208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288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21671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→ highlighted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18688" y="1207008"/>
            <a:ext cx="2798064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10128" y="1261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check 20 ≠ 30 → move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28416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58768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8496" y="1645920"/>
            <a:ext cx="530352" cy="411480"/>
          </a:xfrm>
          <a:prstGeom prst="rect">
            <a:avLst/>
          </a:prstGeom>
          <a:solidFill>
            <a:srgbClr val="FFB347">
              <a:alpha val="85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68496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98848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8576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38928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48656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48656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21671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→ highlighted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1207008"/>
            <a:ext cx="2798064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54496" y="12618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check 30 = 30 → FOUND 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72784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03136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12864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43216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52944" y="1645920"/>
            <a:ext cx="530352" cy="411480"/>
          </a:xfrm>
          <a:prstGeom prst="rect">
            <a:avLst/>
          </a:prstGeom>
          <a:solidFill>
            <a:srgbClr val="4ADE80">
              <a:alpha val="85000"/>
            </a:srgbClr>
          </a:solidFill>
          <a:ln w="3175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83296" y="1856232"/>
            <a:ext cx="109728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93024" y="1645920"/>
            <a:ext cx="530352" cy="411480"/>
          </a:xfrm>
          <a:prstGeom prst="rect">
            <a:avLst/>
          </a:prstGeom>
          <a:solidFill>
            <a:srgbClr val="00AAFF">
              <a:alpha val="6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93024" y="1645920"/>
            <a:ext cx="530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54496" y="21671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at index 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6032" y="3017520"/>
            <a:ext cx="4251960" cy="2011680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84048" y="305409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 &amp; Length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84048" y="3255264"/>
            <a:ext cx="397764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search(self, 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self.head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cur.data == val: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index  # found!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cur.next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index +=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  # not found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length(self):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count, cur = 0, self.head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+=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cur.next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45152" y="3017520"/>
            <a:ext cx="4251960" cy="2011680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73168" y="305409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 in reverse (using recursion)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73168" y="3255264"/>
            <a:ext cx="397764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print_reverse(self):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_rev(node):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node: return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_rev(node.next)     # recurse first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print(node.data, end=' 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_rev(self.head)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print()  # newline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List: 10 → 20 → 30 → 40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40 30 20 10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get_kth_from_end(self, k):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 = slow = self.head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range(k): fast = fast.next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fast: fast=fast.next; slow=slow.next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slow.data   # k-th from end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a Linked List – Two Approaches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850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Reversal – 3-pointer technique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170432"/>
            <a:ext cx="2029968" cy="1828800"/>
          </a:xfrm>
          <a:prstGeom prst="rect">
            <a:avLst/>
          </a:prstGeom>
          <a:solidFill>
            <a:srgbClr val="0F2A3A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" y="122529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384048" cy="347472"/>
          </a:xfrm>
          <a:prstGeom prst="rect">
            <a:avLst/>
          </a:prstGeom>
          <a:solidFill>
            <a:srgbClr val="00C9A7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572768"/>
            <a:ext cx="384048" cy="347472"/>
          </a:xfrm>
          <a:prstGeom prst="rect">
            <a:avLst/>
          </a:prstGeom>
          <a:solidFill>
            <a:srgbClr val="00AAFF">
              <a:alpha val="75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0700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1572768"/>
            <a:ext cx="384048" cy="347472"/>
          </a:xfrm>
          <a:prstGeom prst="rect">
            <a:avLst/>
          </a:prstGeom>
          <a:solidFill>
            <a:srgbClr val="FFB347">
              <a:alpha val="75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6420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1572768"/>
            <a:ext cx="384048" cy="347472"/>
          </a:xfrm>
          <a:prstGeom prst="rect">
            <a:avLst/>
          </a:prstGeom>
          <a:solidFill>
            <a:srgbClr val="000000">
              <a:alpha val="35000"/>
            </a:srgbClr>
          </a:solidFill>
          <a:ln w="19050">
            <a:solidFill>
              <a:srgbClr val="6B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prev=None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4980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0" y="2084832"/>
            <a:ext cx="164592" cy="0"/>
          </a:xfrm>
          <a:prstGeom prst="line">
            <a:avLst/>
          </a:prstGeom>
          <a:noFill/>
          <a:ln w="19050">
            <a:solidFill>
              <a:srgbClr val="6B8FA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450592" y="1170432"/>
            <a:ext cx="2029968" cy="1828800"/>
          </a:xfrm>
          <a:prstGeom prst="rect">
            <a:avLst/>
          </a:prstGeom>
          <a:solidFill>
            <a:srgbClr val="0F2A3A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23744" y="122529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1572768"/>
            <a:ext cx="384048" cy="347472"/>
          </a:xfrm>
          <a:prstGeom prst="rect">
            <a:avLst/>
          </a:prstGeom>
          <a:solidFill>
            <a:srgbClr val="00C9A7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4436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1572768"/>
            <a:ext cx="384048" cy="347472"/>
          </a:xfrm>
          <a:prstGeom prst="rect">
            <a:avLst/>
          </a:prstGeom>
          <a:solidFill>
            <a:srgbClr val="00AAFF">
              <a:alpha val="75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0156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1572768"/>
            <a:ext cx="384048" cy="347472"/>
          </a:xfrm>
          <a:prstGeom prst="rect">
            <a:avLst/>
          </a:prstGeom>
          <a:solidFill>
            <a:srgbClr val="FFB347">
              <a:alpha val="75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5876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1572768"/>
            <a:ext cx="384048" cy="347472"/>
          </a:xfrm>
          <a:prstGeom prst="rect">
            <a:avLst/>
          </a:prstGeom>
          <a:solidFill>
            <a:srgbClr val="000000">
              <a:alpha val="35000"/>
            </a:srgbClr>
          </a:solidFill>
          <a:ln w="19050">
            <a:solidFill>
              <a:srgbClr val="6B8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8716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94436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40156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80560" y="2084832"/>
            <a:ext cx="164592" cy="0"/>
          </a:xfrm>
          <a:prstGeom prst="line">
            <a:avLst/>
          </a:prstGeom>
          <a:noFill/>
          <a:ln w="19050">
            <a:solidFill>
              <a:srgbClr val="6B8FA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645152" y="1170432"/>
            <a:ext cx="2029968" cy="1828800"/>
          </a:xfrm>
          <a:prstGeom prst="rect">
            <a:avLst/>
          </a:prstGeom>
          <a:solidFill>
            <a:srgbClr val="0F2A3A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18304" y="122529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1572768"/>
            <a:ext cx="384048" cy="347472"/>
          </a:xfrm>
          <a:prstGeom prst="rect">
            <a:avLst/>
          </a:prstGeom>
          <a:solidFill>
            <a:srgbClr val="00C9A7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13892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1572768"/>
            <a:ext cx="384048" cy="347472"/>
          </a:xfrm>
          <a:prstGeom prst="rect">
            <a:avLst/>
          </a:prstGeom>
          <a:solidFill>
            <a:srgbClr val="00AAFF">
              <a:alpha val="75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9612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1572768"/>
            <a:ext cx="384048" cy="347472"/>
          </a:xfrm>
          <a:prstGeom prst="rect">
            <a:avLst/>
          </a:prstGeom>
          <a:solidFill>
            <a:srgbClr val="FFB347">
              <a:alpha val="75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5332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1572768"/>
            <a:ext cx="384048" cy="347472"/>
          </a:xfrm>
          <a:prstGeom prst="rect">
            <a:avLst/>
          </a:prstGeom>
          <a:solidFill>
            <a:srgbClr val="000000">
              <a:alpha val="35000"/>
            </a:srgbClr>
          </a:solidFill>
          <a:ln w="19050">
            <a:solidFill>
              <a:srgbClr val="6B8F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3892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9612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675120" y="2084832"/>
            <a:ext cx="164592" cy="0"/>
          </a:xfrm>
          <a:prstGeom prst="line">
            <a:avLst/>
          </a:prstGeom>
          <a:noFill/>
          <a:ln w="19050">
            <a:solidFill>
              <a:srgbClr val="6B8FA8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839712" y="1170432"/>
            <a:ext cx="2029968" cy="1828800"/>
          </a:xfrm>
          <a:prstGeom prst="rect">
            <a:avLst/>
          </a:prstGeom>
          <a:solidFill>
            <a:srgbClr val="0F2A3A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912864" y="1225296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49440" y="1572768"/>
            <a:ext cx="384048" cy="347472"/>
          </a:xfrm>
          <a:prstGeom prst="rect">
            <a:avLst/>
          </a:prstGeom>
          <a:solidFill>
            <a:srgbClr val="00C9A7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3348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06640" y="1572768"/>
            <a:ext cx="384048" cy="347472"/>
          </a:xfrm>
          <a:prstGeom prst="rect">
            <a:avLst/>
          </a:prstGeom>
          <a:solidFill>
            <a:srgbClr val="00AAFF">
              <a:alpha val="75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9068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63840" y="1572768"/>
            <a:ext cx="384048" cy="347472"/>
          </a:xfrm>
          <a:prstGeom prst="rect">
            <a:avLst/>
          </a:prstGeom>
          <a:solidFill>
            <a:srgbClr val="FFB347">
              <a:alpha val="75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247888" y="1746504"/>
            <a:ext cx="73152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21040" y="1572768"/>
            <a:ext cx="384048" cy="347472"/>
          </a:xfrm>
          <a:prstGeom prst="rect">
            <a:avLst/>
          </a:prstGeom>
          <a:solidFill>
            <a:srgbClr val="000000">
              <a:alpha val="35000"/>
            </a:srgbClr>
          </a:solidFill>
          <a:ln w="19050">
            <a:solidFill>
              <a:srgbClr val="6B8F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21040" y="1572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790688" y="1956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prev(HEAD)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6032" y="3127248"/>
            <a:ext cx="4224528" cy="1920240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384048" y="3163824"/>
            <a:ext cx="3950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Iterative reversal — O(n) time, O(1) space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84048" y="3364992"/>
            <a:ext cx="395020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reverse_iterative(self):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 =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self.head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current: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next_node   = current.next  # save 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current.next = prev         # flip pointer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        = current       # move prev forward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    = next_node     # move current forward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self.head = prev  # prev is new HEAD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663440" y="3127248"/>
            <a:ext cx="4224528" cy="1920240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4791456" y="3163824"/>
            <a:ext cx="3950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Recursive reversal — O(n) time, O(n) space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791456" y="3364992"/>
            <a:ext cx="3950208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reverse_recursive(self):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_rev(node):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node or not node.next: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node   # base case: new 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new_head = _rev(node.next)  # recurse deep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node.next.next = node       # reverse link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node.next = None            # break old link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new_head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self.head = _rev(self.head)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Linked List – Bidirectional Traversal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carries BOTH a next and a prev pointer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DLL Node anatomy: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640080" cy="502920"/>
          </a:xfrm>
          <a:prstGeom prst="rect">
            <a:avLst/>
          </a:prstGeom>
          <a:solidFill>
            <a:srgbClr val="FFB347">
              <a:alpha val="70000"/>
            </a:srgbClr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47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6642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1444752"/>
            <a:ext cx="731520" cy="502920"/>
          </a:xfrm>
          <a:prstGeom prst="rect">
            <a:avLst/>
          </a:prstGeom>
          <a:solidFill>
            <a:srgbClr val="00AAFF">
              <a:alpha val="80000"/>
            </a:srgbClr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4447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32688" y="16642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82496" y="1444752"/>
            <a:ext cx="640080" cy="502920"/>
          </a:xfrm>
          <a:prstGeom prst="rect">
            <a:avLst/>
          </a:prstGeom>
          <a:solidFill>
            <a:srgbClr val="00C9A7">
              <a:alpha val="70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82496" y="14447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82496" y="16642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2057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DLL Chain: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2395728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8992" y="2359152"/>
            <a:ext cx="914400" cy="475488"/>
          </a:xfrm>
          <a:prstGeom prst="rect">
            <a:avLst/>
          </a:prstGeom>
          <a:solidFill>
            <a:srgbClr val="00C9A7">
              <a:alpha val="80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23591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93392" y="2501798"/>
            <a:ext cx="548640" cy="0"/>
          </a:xfrm>
          <a:prstGeom prst="line">
            <a:avLst/>
          </a:prstGeom>
          <a:noFill/>
          <a:ln w="2286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39207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42032" y="2359152"/>
            <a:ext cx="914400" cy="475488"/>
          </a:xfrm>
          <a:prstGeom prst="rect">
            <a:avLst/>
          </a:prstGeom>
          <a:solidFill>
            <a:srgbClr val="00AAFF">
              <a:alpha val="80000"/>
            </a:srgbClr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23591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56432" y="2501798"/>
            <a:ext cx="548640" cy="0"/>
          </a:xfrm>
          <a:prstGeom prst="line">
            <a:avLst/>
          </a:prstGeom>
          <a:noFill/>
          <a:ln w="2286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39207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93392" y="2691994"/>
            <a:ext cx="548640" cy="0"/>
          </a:xfrm>
          <a:prstGeom prst="line">
            <a:avLst/>
          </a:prstGeom>
          <a:noFill/>
          <a:ln w="2286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258226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05072" y="2359152"/>
            <a:ext cx="914400" cy="475488"/>
          </a:xfrm>
          <a:prstGeom prst="rect">
            <a:avLst/>
          </a:prstGeom>
          <a:solidFill>
            <a:srgbClr val="FFB347">
              <a:alpha val="80000"/>
            </a:srgbClr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5072" y="23591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19472" y="2501798"/>
            <a:ext cx="548640" cy="0"/>
          </a:xfrm>
          <a:prstGeom prst="line">
            <a:avLst/>
          </a:prstGeom>
          <a:noFill/>
          <a:ln w="2286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39207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56432" y="2691994"/>
            <a:ext cx="548640" cy="0"/>
          </a:xfrm>
          <a:prstGeom prst="line">
            <a:avLst/>
          </a:prstGeom>
          <a:noFill/>
          <a:ln w="2286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258226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68112" y="2359152"/>
            <a:ext cx="914400" cy="475488"/>
          </a:xfrm>
          <a:prstGeom prst="rect">
            <a:avLst/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235915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19472" y="2691994"/>
            <a:ext cx="548640" cy="0"/>
          </a:xfrm>
          <a:prstGeom prst="line">
            <a:avLst/>
          </a:prstGeom>
          <a:noFill/>
          <a:ln w="22860">
            <a:solidFill>
              <a:srgbClr val="FFB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258226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61888" y="2395728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NULL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8992" y="294436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 pointers (amber)          → next pointers (teal)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3255264"/>
            <a:ext cx="8631936" cy="1801368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4048" y="32918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Doubly Linked List – Node class + insert_at_head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" y="3493008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DNode:                                     class DoublyLinkedList: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data):                        def __init__(self):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data                                 self.head = None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 = None    # ← backward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    # → forward              def insert_at_head(self, data):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new = DNode(data)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Key advantage over Singly LL:                     new.next = self.head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O(1) delete when node reference known!            if self.head: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O(1) insert before a given node                       self.head.prev = new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Backward traversal possible                       self.head = new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Circular Linked List – Tail Points Back to HEAD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1234440"/>
            <a:ext cx="1325880" cy="1325880"/>
          </a:xfrm>
          <a:prstGeom prst="line">
            <a:avLst/>
          </a:prstGeom>
          <a:noFill/>
          <a:ln w="22860">
            <a:solidFill>
              <a:srgbClr val="6B8F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611880" y="2560320"/>
            <a:ext cx="0" cy="1325880"/>
          </a:xfrm>
          <a:prstGeom prst="line">
            <a:avLst/>
          </a:prstGeom>
          <a:noFill/>
          <a:ln w="22860">
            <a:solidFill>
              <a:srgbClr val="6B8F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286000" y="3886200"/>
            <a:ext cx="0" cy="0"/>
          </a:xfrm>
          <a:prstGeom prst="line">
            <a:avLst/>
          </a:prstGeom>
          <a:noFill/>
          <a:ln w="22860">
            <a:solidFill>
              <a:srgbClr val="6B8FA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60120" y="2560320"/>
            <a:ext cx="1325880" cy="0"/>
          </a:xfrm>
          <a:prstGeom prst="line">
            <a:avLst/>
          </a:prstGeom>
          <a:noFill/>
          <a:ln w="22860">
            <a:solidFill>
              <a:srgbClr val="6B8FA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938528" y="886968"/>
            <a:ext cx="694944" cy="694944"/>
          </a:xfrm>
          <a:prstGeom prst="ellipse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88696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64408" y="2212848"/>
            <a:ext cx="694944" cy="694944"/>
          </a:xfrm>
          <a:prstGeom prst="ellipse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21284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38528" y="3538728"/>
            <a:ext cx="694944" cy="694944"/>
          </a:xfrm>
          <a:prstGeom prst="ellipse">
            <a:avLst/>
          </a:prstGeom>
          <a:solidFill>
            <a:srgbClr val="FFB347">
              <a:alpha val="80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353872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2212848"/>
            <a:ext cx="694944" cy="694944"/>
          </a:xfrm>
          <a:prstGeom prst="ellipse">
            <a:avLst/>
          </a:prstGeom>
          <a:solidFill>
            <a:srgbClr val="FF6B6B">
              <a:alpha val="80000"/>
            </a:srgbClr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21284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6675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tail.next = head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850392"/>
            <a:ext cx="4206240" cy="1920240"/>
          </a:xfrm>
          <a:prstGeom prst="rect">
            <a:avLst/>
          </a:prstGeom>
          <a:solidFill>
            <a:srgbClr val="112233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50392"/>
            <a:ext cx="64008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9052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Properties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9744" y="126187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node's next points back to HEAD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terminus — list is a cycle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wraps around continuously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stop condition (e.g. node == head)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or Doubly can both be circular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4206240" cy="13258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880360"/>
            <a:ext cx="64008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9744" y="327355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CPU scheduling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/ video playlist looping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board game turns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ring network protocol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cycling (Ctrl+Tab)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4096512"/>
            <a:ext cx="8631936" cy="987552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413308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Circular Linked List – insert &amp; detect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4334256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CircularLL: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append(self, data):                       def traverse(self):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= Node(data)                              if not self.head: return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self.head:                             cur = self.head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self.head = new                           while True: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new.next  = self.head  # point to self        print(cur.data, end=' → 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                                       cur = cur.next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self.head                                   if cur == self.head: break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cur.next != self.head: cur = cur.next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cur.next = new;  new.next = self.head   # close the circle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Operations – Cycle, Middle &amp; Merge Sorted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850392"/>
            <a:ext cx="4096512" cy="2011680"/>
          </a:xfrm>
          <a:prstGeom prst="rect">
            <a:avLst/>
          </a:prstGeom>
          <a:solidFill>
            <a:srgbClr val="112233"/>
          </a:solidFill>
          <a:ln w="12700">
            <a:solidFill>
              <a:srgbClr val="4ADE8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50392"/>
            <a:ext cx="64008" cy="2011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9052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Floyd's Cycle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234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(1 step) + Fast (2 steps)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" y="1508760"/>
            <a:ext cx="530352" cy="384048"/>
          </a:xfrm>
          <a:prstGeom prst="rect">
            <a:avLst/>
          </a:prstGeom>
          <a:solidFill>
            <a:srgbClr val="00C9A7">
              <a:alpha val="7500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50876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" y="1700784"/>
            <a:ext cx="128016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1508760"/>
            <a:ext cx="530352" cy="384048"/>
          </a:xfrm>
          <a:prstGeom prst="rect">
            <a:avLst/>
          </a:prstGeom>
          <a:solidFill>
            <a:srgbClr val="00AAFF">
              <a:alpha val="75000"/>
            </a:srgbClr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150876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09344" y="1700784"/>
            <a:ext cx="128016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1508760"/>
            <a:ext cx="530352" cy="384048"/>
          </a:xfrm>
          <a:prstGeom prst="rect">
            <a:avLst/>
          </a:prstGeom>
          <a:solidFill>
            <a:srgbClr val="FFB347">
              <a:alpha val="75000"/>
            </a:srgbClr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150876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67712" y="1700784"/>
            <a:ext cx="128016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95728" y="1508760"/>
            <a:ext cx="530352" cy="384048"/>
          </a:xfrm>
          <a:prstGeom prst="rect">
            <a:avLst/>
          </a:prstGeom>
          <a:solidFill>
            <a:srgbClr val="FF6B6B">
              <a:alpha val="75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150876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1700784"/>
            <a:ext cx="128016" cy="0"/>
          </a:xfrm>
          <a:prstGeom prst="line">
            <a:avLst/>
          </a:prstGeom>
          <a:noFill/>
          <a:ln w="15240">
            <a:solidFill>
              <a:srgbClr val="6B8F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54096" y="1508760"/>
            <a:ext cx="530352" cy="384048"/>
          </a:xfrm>
          <a:prstGeom prst="rect">
            <a:avLst/>
          </a:prstGeom>
          <a:solidFill>
            <a:srgbClr val="A78BFA">
              <a:alpha val="75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150876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" y="19385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cycle to node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" y="2487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slow==fast → CYCLE DETECTED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17136" y="850392"/>
            <a:ext cx="4370832" cy="2011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17136" y="850392"/>
            <a:ext cx="64008" cy="20116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9052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Middle (Slow/Fast Pointers)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81728" y="12344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moves 2x speed of Slow → when Fast=NULL, Slow=Middle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1600200"/>
            <a:ext cx="621792" cy="402336"/>
          </a:xfrm>
          <a:prstGeom prst="rect">
            <a:avLst/>
          </a:prstGeom>
          <a:solidFill>
            <a:srgbClr val="0F2A3A"/>
          </a:solidFill>
          <a:ln w="19050">
            <a:solidFill>
              <a:srgbClr val="1A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600200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03520" y="1801368"/>
            <a:ext cx="128016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31536" y="1600200"/>
            <a:ext cx="621792" cy="402336"/>
          </a:xfrm>
          <a:prstGeom prst="rect">
            <a:avLst/>
          </a:prstGeom>
          <a:solidFill>
            <a:srgbClr val="0F2A3A"/>
          </a:solidFill>
          <a:ln w="19050">
            <a:solidFill>
              <a:srgbClr val="1A3A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31536" y="1600200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53328" y="1801368"/>
            <a:ext cx="128016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1344" y="1600200"/>
            <a:ext cx="621792" cy="402336"/>
          </a:xfrm>
          <a:prstGeom prst="rect">
            <a:avLst/>
          </a:prstGeom>
          <a:solidFill>
            <a:srgbClr val="00AAFF">
              <a:alpha val="85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1600200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03136" y="1801368"/>
            <a:ext cx="128016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31152" y="1600200"/>
            <a:ext cx="621792" cy="402336"/>
          </a:xfrm>
          <a:prstGeom prst="rect">
            <a:avLst/>
          </a:prstGeom>
          <a:solidFill>
            <a:srgbClr val="0F2A3A"/>
          </a:solidFill>
          <a:ln w="19050">
            <a:solidFill>
              <a:srgbClr val="1A3A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1600200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52944" y="1801368"/>
            <a:ext cx="128016" cy="0"/>
          </a:xfrm>
          <a:prstGeom prst="line">
            <a:avLst/>
          </a:prstGeom>
          <a:noFill/>
          <a:ln w="12700">
            <a:solidFill>
              <a:srgbClr val="6B8F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80960" y="1600200"/>
            <a:ext cx="621792" cy="402336"/>
          </a:xfrm>
          <a:prstGeom prst="rect">
            <a:avLst/>
          </a:prstGeom>
          <a:solidFill>
            <a:srgbClr val="0F2A3A"/>
          </a:solidFill>
          <a:ln w="19050">
            <a:solidFill>
              <a:srgbClr val="1A3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1600200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8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81344" y="2029968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81728" y="22860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→ 1 step per iteration | fast → 2 steps per iteration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2971800"/>
            <a:ext cx="2743200" cy="2084832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65760" y="30083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Detect cycle (Floyd)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3209544"/>
            <a:ext cx="256032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has_cycle(self):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slow = fast = self.head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fast and fast.next: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slow = slow.next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fast = fast.next.next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slow == fast: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  # cycle!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090672" y="2971800"/>
            <a:ext cx="2743200" cy="2084832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200400" y="30083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middle node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00400" y="3209544"/>
            <a:ext cx="256032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find_middle(self):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slow = fast = self.head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fast and fast.next: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slow = slow.next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fast = fast.next.next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slow  # slow = middle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25312" y="2971800"/>
            <a:ext cx="2743200" cy="2084832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035040" y="30083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two sorted lists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035040" y="3209544"/>
            <a:ext cx="256032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merge_sorted(l1, l2):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dummy = Node(0)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dummy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l1 and l2: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l1.data &lt;= l2.data: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cur.next = l1; l1=l1.next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cur.next = l2; l2=l2.next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cur.next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cur.next = l1 or l2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dummy.next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Interview Problems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850392"/>
            <a:ext cx="4251960" cy="4206240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50392"/>
            <a:ext cx="4251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961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LRU Cache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896112"/>
            <a:ext cx="1097280" cy="237744"/>
          </a:xfrm>
          <a:prstGeom prst="rect">
            <a:avLst/>
          </a:prstGeom>
          <a:solidFill>
            <a:srgbClr val="FFB347">
              <a:alpha val="7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8961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078992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Hash Map + DLL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261872"/>
            <a:ext cx="408736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OrderedDict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LRUCache: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cap):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self.cap = cap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self.cache = OrderedDict()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get(self, key):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 not in self.cache: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-1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self.cache.move_to_end(key)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self.cache[key]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put(self, key, val):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self.cache[key] = val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self.cache.move_to_end(key)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len(self.cache) &gt; self.cap: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self.cache.popitem(last=False)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OrderedDict = DLL + HashMap internally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850392"/>
            <a:ext cx="4251960" cy="1965960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850392"/>
            <a:ext cx="4251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8961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Palindrome Check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62672" y="896112"/>
            <a:ext cx="1097280" cy="237744"/>
          </a:xfrm>
          <a:prstGeom prst="rect">
            <a:avLst/>
          </a:prstGeom>
          <a:solidFill>
            <a:srgbClr val="4ADE80">
              <a:alpha val="7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8961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1078992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Singly LL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36592" y="1261872"/>
            <a:ext cx="408736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is_palindrome(head):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vals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 = 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vals.append(cur.data)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 = cur.next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vals == vals[::-1]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1→2→2→1 → True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45152" y="2944368"/>
            <a:ext cx="4251960" cy="2112264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5152" y="2944368"/>
            <a:ext cx="4251960" cy="347472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9900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N-th from 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62672" y="2990088"/>
            <a:ext cx="1097280" cy="237744"/>
          </a:xfrm>
          <a:prstGeom prst="rect">
            <a:avLst/>
          </a:prstGeom>
          <a:solidFill>
            <a:srgbClr val="FFB347">
              <a:alpha val="7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2990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592" y="317296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Two pointers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355848"/>
            <a:ext cx="4087368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remove_nth_from_end(head, 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dummy = Node(0)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dummy.next = 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fast = slow = dummy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range(n+1):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fast = fast.next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fast: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fast = fast.next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slow = slow.next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slow.next = slow.next.next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dummy.next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 List vs Array – When to Use Which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41248"/>
          <a:ext cx="8138160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</a:rPr>
                        <a:t>Array (list)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</a:rPr>
                        <a:t>Linked List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</a:rPr>
                        <a:t>Winner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Memory layout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Contiguous blocks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Scattered nodes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6B"/>
                          </a:solidFill>
                        </a:rPr>
                        <a:t>Array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Random access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O(1) – index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O(n) – must traverse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6B"/>
                          </a:solidFill>
                        </a:rPr>
                        <a:t>Array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Insert at head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O(n) – shift all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O(1) – update head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</a:rPr>
                        <a:t>LL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Insert at tail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O(1)* – append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O(n) / O(1) with tail ptr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B347"/>
                          </a:solidFill>
                        </a:rPr>
                        <a:t>Tie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Insert in middle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O(n) – shift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O(1) – stitch ptrs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</a:rPr>
                        <a:t>LL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Delete at head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O(n) – shift all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O(1) – update head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</a:rPr>
                        <a:t>LL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Search by value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O(n) linear / O(log n) sorted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O(n) linear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B347"/>
                          </a:solidFill>
                        </a:rPr>
                        <a:t>Tie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Cache performance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Excellent – locality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Poor – scattered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6B"/>
                          </a:solidFill>
                        </a:rPr>
                        <a:t>Array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Extra memory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Pointer per node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6B6B"/>
                          </a:solidFill>
                        </a:rPr>
                        <a:t>Array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D8EAF5"/>
                          </a:solidFill>
                        </a:rPr>
                        <a:t>Dynamic resize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Realloc needed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B8FA8"/>
                          </a:solidFill>
                        </a:rPr>
                        <a:t>O(1) no-realloc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</a:rPr>
                        <a:t>LL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Python list append is amortized O(1). LL insert at middle requires O(n) traversal to find position first.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008"/>
            <a:ext cx="7315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914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Operations Cheat Sheet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" y="850392"/>
            <a:ext cx="4846320" cy="4206240"/>
          </a:xfrm>
          <a:prstGeom prst="rect">
            <a:avLst/>
          </a:prstGeom>
          <a:solidFill>
            <a:srgbClr val="091929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869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Singly Linked List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d): self.data=d; self.next=None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SinglyLL: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 self.head = None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insert_head(self, d):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n=Node(d); n.next=self.head; self.head=n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insert_tail(self, d):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n=Node(d)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self.head: self.head=n; return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c=self.head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c.next: c=c.next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c.next=n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delete_value(self, val):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self.head: return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self.head.data==val: self.head=self.head.next; return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c=self.head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c.next: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c.next.data==val: c.next=c.next.next; return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c=c.next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reverse(self):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p,c=None,self.head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c: n=c.next; c.next=p; p=c; c=n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self.head=p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has_cycle(self):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s=f=self.head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f and f.next: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D8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s=s.next; f=f.next.next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s==f: return True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middle(self):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s=f=self.head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f and f.next: s=s.next; f=f.next.next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s.data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r,c=[],self.head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c: r.append(str(c.data)); c=c.next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 → '.join(r)+' → NULL'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285232" y="850392"/>
            <a:ext cx="3657600" cy="19019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85232" y="850392"/>
            <a:ext cx="365760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886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 Summary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85232" y="1261872"/>
          <a:ext cx="3685032" cy="22936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</a:rPr>
                        <a:t>Operation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</a:rPr>
                        <a:t>Time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</a:rPr>
                        <a:t>Space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Insert at Head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Insert at Tail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Insert at Pos k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O(k)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Delete (value)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Search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Traverse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Reverse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Detect Cycle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7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8EAF5"/>
                          </a:solidFill>
                        </a:rPr>
                        <a:t>Find Middle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B347"/>
                          </a:solidFill>
                        </a:rPr>
                        <a:t>O(n)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O(1)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Shape 12"/>
          <p:cNvSpPr/>
          <p:nvPr/>
        </p:nvSpPr>
        <p:spPr>
          <a:xfrm>
            <a:off x="5285232" y="2852928"/>
            <a:ext cx="3657600" cy="2176272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285232" y="2852928"/>
            <a:ext cx="64008" cy="217627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49824" y="29077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Linked Lists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31536" y="3273552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inserts/deletes at head or middle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/ dynamic size at compile 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Stacks, Queues, Deques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LRU caches, adjacency lists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don't need random index access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49971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You've Mastered Linked Lists!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Linked Lists – Complete Guide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1444752" cy="402336"/>
          </a:xfrm>
          <a:prstGeom prst="rect">
            <a:avLst/>
          </a:prstGeom>
          <a:solidFill>
            <a:srgbClr val="00C9A7">
              <a:alpha val="80000"/>
            </a:srgbClr>
          </a:solidFill>
          <a:ln w="3175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0512" y="1298448"/>
            <a:ext cx="274320" cy="402336"/>
          </a:xfrm>
          <a:prstGeom prst="rect">
            <a:avLst/>
          </a:prstGeom>
          <a:solidFill>
            <a:srgbClr val="00C9A7">
              <a:alpha val="6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4832" y="1499616"/>
            <a:ext cx="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7160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2984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Singly 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66544" y="1298448"/>
            <a:ext cx="1444752" cy="402336"/>
          </a:xfrm>
          <a:prstGeom prst="rect">
            <a:avLst/>
          </a:prstGeom>
          <a:solidFill>
            <a:srgbClr val="00AAFF">
              <a:alpha val="80000"/>
            </a:srgbClr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1296" y="1298448"/>
            <a:ext cx="274320" cy="402336"/>
          </a:xfrm>
          <a:prstGeom prst="rect">
            <a:avLst/>
          </a:prstGeom>
          <a:solidFill>
            <a:srgbClr val="00AAFF">
              <a:alpha val="60000"/>
            </a:srgbClr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85616" y="1499616"/>
            <a:ext cx="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137160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12984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67328" y="1298448"/>
            <a:ext cx="1444752" cy="402336"/>
          </a:xfrm>
          <a:prstGeom prst="rect">
            <a:avLst/>
          </a:prstGeom>
          <a:solidFill>
            <a:srgbClr val="FFB347">
              <a:alpha val="80000"/>
            </a:srgbClr>
          </a:solidFill>
          <a:ln w="31750">
            <a:solidFill>
              <a:srgbClr val="FFB3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1298448"/>
            <a:ext cx="274320" cy="402336"/>
          </a:xfrm>
          <a:prstGeom prst="rect">
            <a:avLst/>
          </a:prstGeom>
          <a:solidFill>
            <a:srgbClr val="FFB347">
              <a:alpha val="60000"/>
            </a:srgbClr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499616"/>
            <a:ext cx="0" cy="0"/>
          </a:xfrm>
          <a:prstGeom prst="line">
            <a:avLst/>
          </a:prstGeom>
          <a:noFill/>
          <a:ln w="254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37160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03904" y="12984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Circular 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68112" y="1298448"/>
            <a:ext cx="1444752" cy="402336"/>
          </a:xfrm>
          <a:prstGeom prst="rect">
            <a:avLst/>
          </a:prstGeom>
          <a:solidFill>
            <a:srgbClr val="FF6B6B">
              <a:alpha val="80000"/>
            </a:srgbClr>
          </a:solidFill>
          <a:ln w="3175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1298448"/>
            <a:ext cx="274320" cy="402336"/>
          </a:xfrm>
          <a:prstGeom prst="rect">
            <a:avLst/>
          </a:prstGeom>
          <a:solidFill>
            <a:srgbClr val="FF6B6B">
              <a:alpha val="60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87184" y="1499616"/>
            <a:ext cx="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04304" y="137160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12984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Ops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68896" y="1298448"/>
            <a:ext cx="1444752" cy="402336"/>
          </a:xfrm>
          <a:prstGeom prst="rect">
            <a:avLst/>
          </a:prstGeom>
          <a:solidFill>
            <a:srgbClr val="A78BFA">
              <a:alpha val="80000"/>
            </a:srgbClr>
          </a:solidFill>
          <a:ln w="3175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13648" y="1298448"/>
            <a:ext cx="274320" cy="402336"/>
          </a:xfrm>
          <a:prstGeom prst="rect">
            <a:avLst/>
          </a:prstGeom>
          <a:solidFill>
            <a:srgbClr val="A78BFA">
              <a:alpha val="6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87968" y="1499616"/>
            <a:ext cx="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137160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05472" y="12984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" y="1883664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1883664"/>
            <a:ext cx="64008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19202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 &amp; Singly LL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" y="21579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next · HEAD · O(1) insert at head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2487168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2487168"/>
            <a:ext cx="64008" cy="5303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25237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Doubly 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0624" y="27614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+ next · O(1) delete · bidirectional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3090672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" y="3090672"/>
            <a:ext cx="64008" cy="5303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31272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Circular 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0624" y="33649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tail→head · no NULL · round-robin scheduling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3694176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6032" y="3694176"/>
            <a:ext cx="64008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37307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Operations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0624" y="39684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O(1) · tail O(n) · position O(k)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297680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" y="4297680"/>
            <a:ext cx="64008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43342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Operations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20624" y="45720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value O(n) · by pos O(k) · edge cases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00016" y="1883664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4ADE8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00016" y="1883664"/>
            <a:ext cx="64008" cy="5303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19202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64608" y="21579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3-ptr O(n)O(1) · recursive O(n)O(n)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00016" y="2487168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0016" y="2487168"/>
            <a:ext cx="64008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64608" y="25237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Detection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64608" y="276148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Floyd's slow/fast pointer O(n) time O(1) space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00016" y="3090672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00AA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00016" y="3090672"/>
            <a:ext cx="64008" cy="5303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64608" y="31272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Middle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64608" y="33649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slow/fast pointers → O(n) single pass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00016" y="3694176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FFB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00016" y="3694176"/>
            <a:ext cx="64008" cy="5303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64608" y="37307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Sorted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64608" y="39684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node technique · O(n+m) time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700016" y="4297680"/>
            <a:ext cx="4206240" cy="530352"/>
          </a:xfrm>
          <a:prstGeom prst="rect">
            <a:avLst/>
          </a:prstGeom>
          <a:solidFill>
            <a:srgbClr val="112233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00016" y="4297680"/>
            <a:ext cx="64008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64608" y="43342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Interview Ready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864608" y="45720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 · Palindrome · Nth from End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28600" y="489204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LeetCode 206 · 141 · 21 · 19 · 143 · 234 · 146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3436</Words>
  <Application>Microsoft Office PowerPoint</Application>
  <PresentationFormat>On-screen Show (16:9)</PresentationFormat>
  <Paragraphs>670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Linked Lists – Complete Guide</dc:title>
  <dc:subject>PptxGenJS Presentation</dc:subject>
  <dc:creator>PK</dc:creator>
  <cp:lastModifiedBy>Palani Karthikeyan</cp:lastModifiedBy>
  <cp:revision>2</cp:revision>
  <dcterms:created xsi:type="dcterms:W3CDTF">2026-03-10T02:57:41Z</dcterms:created>
  <dcterms:modified xsi:type="dcterms:W3CDTF">2026-03-10T03:02:02Z</dcterms:modified>
</cp:coreProperties>
</file>