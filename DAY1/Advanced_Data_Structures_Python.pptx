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-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52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9728" cy="50520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164592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Data Structures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Python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· Queues · Linked Lists · Trees · Graphs · Heaps · Hash 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554480" cy="347472"/>
          </a:xfrm>
          <a:prstGeom prst="rect">
            <a:avLst/>
          </a:prstGeom>
          <a:solidFill>
            <a:srgbClr val="00D4E8">
              <a:alpha val="70000"/>
            </a:srgbClr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3429000"/>
            <a:ext cx="1554480" cy="347472"/>
          </a:xfrm>
          <a:prstGeom prst="rect">
            <a:avLst/>
          </a:prstGeom>
          <a:solidFill>
            <a:srgbClr val="3ECFA4">
              <a:alpha val="70000"/>
            </a:srgbClr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429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Diagrams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3429000"/>
            <a:ext cx="1554480" cy="347472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429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3429000"/>
            <a:ext cx="1554480" cy="347472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429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57200" cy="117043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527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9601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3258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· push/pop · applications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457200" cy="1170432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12527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7328" y="9601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&amp; Deque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13258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· circular · priority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68680"/>
            <a:ext cx="45720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25272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9601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93408" y="13258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· Doubly · Circular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94560"/>
            <a:ext cx="457200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25786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22860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26517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· AVL · Red-Black · Segment Tree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19456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194560"/>
            <a:ext cx="457200" cy="11704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9544" y="25786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67328" y="22860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67328" y="26517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Dijkstra · Topological Sort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19456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194560"/>
            <a:ext cx="457200" cy="117043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257860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93408" y="22860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93408" y="26517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Heap · heapq · Priority Queue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520440"/>
            <a:ext cx="457200" cy="1170432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390448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1248" y="3611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Tables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" y="39776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Collision · Open Addressing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20440"/>
            <a:ext cx="45720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9544" y="390448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67328" y="3611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767328" y="39776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Tree · Autocomplete · Word Search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3520440"/>
            <a:ext cx="274320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520440"/>
            <a:ext cx="457200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35624" y="390448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93408" y="36118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93408" y="39776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Set · Segment Tree · Fenwick Tree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Big-O Complexity Quick Reference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7132320" cy="4023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Data Structure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Access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Search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Insert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Delete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Space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Stack (list)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Queue (deque)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Singly Linked List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Doubly Linked List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Binary Search Tree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AVL Tree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Heap (heapq)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 top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</a:rPr>
                        <a:t>O(log 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Hash Table (dict)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6B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Trie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O(m)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O(m)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O(m)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O(m)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O(n·m)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Graph (adj list)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O(V+E)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ECFA4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O(E)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O(V+E)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amortized   m = key length   V = vertices   E = edges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 —  Last In, First Out (LIFO)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103120" cy="640080"/>
          </a:xfrm>
          <a:prstGeom prst="rect">
            <a:avLst/>
          </a:prstGeom>
          <a:solidFill>
            <a:srgbClr val="00D4E8">
              <a:alpha val="80000"/>
            </a:srgbClr>
          </a:solidFill>
          <a:ln w="254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→ 40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103120" cy="640080"/>
          </a:xfrm>
          <a:prstGeom prst="rect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6420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2103120" cy="640080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1401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63824"/>
            <a:ext cx="2103120" cy="640080"/>
          </a:xfrm>
          <a:prstGeom prst="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6382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(bottom)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841248"/>
            <a:ext cx="0" cy="9144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 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822960"/>
            <a:ext cx="256032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822960"/>
            <a:ext cx="64008" cy="21031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87782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1298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2192" y="12984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top      O(1)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16824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22192" y="168249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top      O(1)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20665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22192" y="20665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        O(1)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88920" y="2450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is_empty()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22192" y="24505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empty   O(1)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822960"/>
            <a:ext cx="347472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822960"/>
            <a:ext cx="64008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8778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1261872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 in editors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back/forward history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bracket checker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stack (recursion)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evaluation (postfix)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3063240"/>
            <a:ext cx="6217920" cy="1920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88920" y="30906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Stack Implementation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3310128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 self.data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x): self.data.append(x)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     return self.data.pop() if self.data else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    return self.data[-1]   if self.data else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is_empty(self):return len(self.data) ==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 return len(self.data)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s.push(10); s.push(20); s.push(30)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print(s.pop())   # 30  ← LIFO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&amp; Deque  —  First In, First Out (FIFO)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9875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914400"/>
            <a:ext cx="868680" cy="548640"/>
          </a:xfrm>
          <a:prstGeom prst="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9144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868680" cy="548640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144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868680" cy="548640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9144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868680" cy="548640"/>
          </a:xfrm>
          <a:prstGeom prst="rect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9144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987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DEQUEUE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(back)                                                         FRONT (head)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2788920" cy="3063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920240"/>
            <a:ext cx="2788920" cy="347472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56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331720"/>
            <a:ext cx="2578608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deque()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q.append('A')   # enqueue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q.append('B')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q.append('C')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q.popleft() # dequeue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# 'A'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920240"/>
            <a:ext cx="2788920" cy="3063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920240"/>
            <a:ext cx="2788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956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Queue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2331720"/>
            <a:ext cx="2578608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heapq.heappush(pq, (2,'task2'))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heapq.heappush(pq, (1,'task1'))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heapq.heappush(pq, (3,'task3'))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pri, task = heapq.heappop(pq)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print(task)  # 'task1' (lowest)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920240"/>
            <a:ext cx="2788920" cy="3063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920240"/>
            <a:ext cx="278892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1956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Deque (Double-ended)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331720"/>
            <a:ext cx="2578608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 = deque([1,2,3])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dq.appendleft(0) # [0,1,2,3]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dq.append(4)     # [0,1,2,3,4]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dq.popleft()     #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dq.pop()         # 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dq.rotate(1)     # [3,1,2]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Lists  —  Dynamic Sequential Storage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Singly Linked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777240" cy="475488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1472184"/>
            <a:ext cx="9418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3898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1234440"/>
            <a:ext cx="777240" cy="475488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234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70632" y="1472184"/>
            <a:ext cx="9418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3898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12464" y="1234440"/>
            <a:ext cx="777240" cy="475488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234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9704" y="1472184"/>
            <a:ext cx="9418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13898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31536" y="1234440"/>
            <a:ext cx="777240" cy="475488"/>
          </a:xfrm>
          <a:prstGeom prst="rect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234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1472184"/>
            <a:ext cx="914400" cy="0"/>
          </a:xfrm>
          <a:prstGeom prst="line">
            <a:avLst/>
          </a:prstGeom>
          <a:noFill/>
          <a:ln w="12700">
            <a:solidFill>
              <a:srgbClr val="7B8F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0608" y="1234440"/>
            <a:ext cx="777240" cy="47548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234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Linked 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267712"/>
            <a:ext cx="804672" cy="47548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26771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93392" y="2267712"/>
            <a:ext cx="804672" cy="475488"/>
          </a:xfrm>
          <a:prstGeom prst="rect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226771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98064" y="2423160"/>
            <a:ext cx="914400" cy="0"/>
          </a:xfrm>
          <a:prstGeom prst="line">
            <a:avLst/>
          </a:prstGeom>
          <a:noFill/>
          <a:ln w="25400">
            <a:solidFill>
              <a:srgbClr val="3ECF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98064" y="2542032"/>
            <a:ext cx="91440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712464" y="2267712"/>
            <a:ext cx="804672" cy="475488"/>
          </a:xfrm>
          <a:prstGeom prst="rect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226771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17136" y="2423160"/>
            <a:ext cx="914400" cy="0"/>
          </a:xfrm>
          <a:prstGeom prst="line">
            <a:avLst/>
          </a:prstGeom>
          <a:noFill/>
          <a:ln w="25400">
            <a:solidFill>
              <a:srgbClr val="3ECFA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2542032"/>
            <a:ext cx="91440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35424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⇆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31536" y="2267712"/>
            <a:ext cx="804672" cy="475488"/>
          </a:xfrm>
          <a:prstGeom prst="rect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226771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50608" y="2267712"/>
            <a:ext cx="804672" cy="47548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226771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2907792"/>
            <a:ext cx="4937760" cy="2084832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29443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Singly Linked List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3163824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SinglyLL: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 self.head =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append(self, 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= Node(data)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self.head: self.head = new;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cur.next: cur = cur.next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cur.next = new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94960" y="2907792"/>
            <a:ext cx="3474720" cy="208483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94960" y="2907792"/>
            <a:ext cx="64008" cy="20848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29626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 vs Array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59552" y="3337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75120" y="3337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90688" y="3337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59552" y="36393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Head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75120" y="36393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✓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90688" y="36393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✗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59552" y="39410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Tail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0" y="39410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90688" y="39410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O(1)* ✓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59552" y="424281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75120" y="424281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✗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90688" y="424281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✓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59552" y="45445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Middle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675120" y="45445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90688" y="45445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Trees &amp; Binary Search Trees (BST)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32304" y="950976"/>
            <a:ext cx="621792" cy="621792"/>
          </a:xfrm>
          <a:prstGeom prst="ellipse">
            <a:avLst/>
          </a:prstGeom>
          <a:solidFill>
            <a:srgbClr val="00D4E8">
              <a:alpha val="80000"/>
            </a:srgbClr>
          </a:solidFill>
          <a:ln w="254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95097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06424" y="1655064"/>
            <a:ext cx="621792" cy="621792"/>
          </a:xfrm>
          <a:prstGeom prst="ellipse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58184" y="1655064"/>
            <a:ext cx="621792" cy="621792"/>
          </a:xfrm>
          <a:prstGeom prst="ellipse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0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1417320"/>
            <a:ext cx="713232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" y="2386584"/>
            <a:ext cx="621792" cy="621792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3865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46504" y="2386584"/>
            <a:ext cx="621792" cy="621792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6504" y="23865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18104" y="2386584"/>
            <a:ext cx="621792" cy="621792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23865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8264" y="2386584"/>
            <a:ext cx="621792" cy="621792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23865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15568" y="2121408"/>
            <a:ext cx="0" cy="329184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19072" y="2121408"/>
            <a:ext cx="201168" cy="329184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2121408"/>
            <a:ext cx="0" cy="329184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2121408"/>
            <a:ext cx="201168" cy="329184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89611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Property: Left &lt; Parent &lt; Right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868680"/>
            <a:ext cx="3840480" cy="17830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868680"/>
            <a:ext cx="64008" cy="178308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9235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Traversals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93792" y="13258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(L→R→R)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1325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30 40 50 60 70 80 ← sorted!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16733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(R→L→R)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16733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50 30 20 40 70 60 80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20208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(L→R→R)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95160" y="2020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20 40 30 60 80 70 50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93792" y="236829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Order (BFS)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95160" y="23682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50 30 70 20 40 60 80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2788920"/>
            <a:ext cx="3840480" cy="2212848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66360" y="28254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BST Insert &amp; Search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044952"/>
            <a:ext cx="35661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BSTNode: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self.val=val; self.left=self.right=None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insert(self, root,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root: return BSTNode(val)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 &lt; root.val: root.left  = self.insert(root.left,  val)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root.right = self.insert(root.right, val)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root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search(self, root,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root or root.val==val: return 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 &lt; root.val: return self.search(root.left,  val)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self.search(root.right, val)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AVL Tree  —  Self-Balancing BST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0574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68680"/>
            <a:ext cx="2057400" cy="34747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Factor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= height(left) − height(right)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−1, 0, or +1 at every node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868680"/>
            <a:ext cx="20574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868680"/>
            <a:ext cx="20574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28016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→ Right Rotate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→ Left Rotate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→ Left then Right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→ Right then Left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868680"/>
            <a:ext cx="20574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868680"/>
            <a:ext cx="2057400" cy="347472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128016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O(log 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degenerate (skewed) trees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1.44 × log₂(n)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868680"/>
            <a:ext cx="20574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868680"/>
            <a:ext cx="20574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BST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58584" y="128016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BST: O(n) worst case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AVL: O(log n) always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Extra rotation overhead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697480"/>
            <a:ext cx="8686800" cy="2304288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3405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AVL Tree — Rotation Logic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953512"/>
            <a:ext cx="832104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AVLNode: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key): self.key=key; self.left=self.right=None; self.height=1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get_height(node): return node.height if node else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get_balance(node): return get_height(node.left) - get_height(node.right) if node else 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right_rotate(z):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z.left; T3 = y.right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y.right = z; z.left = T3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z.height = 1 + max(get_height(z.left), get_height(z.right))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y.height = 1 + max(get_height(y.left), get_height(y.right))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  # new root after rotation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left_rotate(z):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z.right; T2 = y.left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y.left = z; z.right = T2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z.height = 1 + max(get_height(z.left), get_height(z.right))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y.height = 1 + max(get_height(y.left), get_height(y.right))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Graphs  —  Vertices, Edges &amp; Traversals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1371600" cy="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371600"/>
            <a:ext cx="1371600" cy="54864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914400"/>
            <a:ext cx="1371600" cy="45720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920240"/>
            <a:ext cx="1371600" cy="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371600"/>
            <a:ext cx="640080" cy="118872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560320"/>
            <a:ext cx="2103120" cy="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371600"/>
            <a:ext cx="0" cy="118872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920240"/>
            <a:ext cx="0" cy="640080"/>
          </a:xfrm>
          <a:prstGeom prst="line">
            <a:avLst/>
          </a:prstGeom>
          <a:noFill/>
          <a:ln w="22860">
            <a:solidFill>
              <a:srgbClr val="1E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106984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10698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41448" y="61264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612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41448" y="161848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6184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13048" y="106984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10698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09928" y="225856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9928" y="2258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13048" y="2258568"/>
            <a:ext cx="603504" cy="603504"/>
          </a:xfrm>
          <a:prstGeom prst="ellipse">
            <a:avLst/>
          </a:prstGeom>
          <a:solidFill>
            <a:srgbClr val="9B59B6">
              <a:alpha val="80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3048" y="2258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822960"/>
            <a:ext cx="4023360" cy="2286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822960"/>
            <a:ext cx="64008" cy="22860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8778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Representations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10912" y="1298448"/>
            <a:ext cx="54864" cy="43891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38928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of lists. Space O(V+E). Best for sparse graphs.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10912" y="1865376"/>
            <a:ext cx="54864" cy="43891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18653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38928" y="20939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V×V grid. Space O(V²). Best for dense + edge weight.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10912" y="2432304"/>
            <a:ext cx="54864" cy="43891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List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38928" y="2660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(u,v) pairs. Simple but slow search O(E).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154680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3191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BFS — Breadth First 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410712"/>
            <a:ext cx="39776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bfs(graph, start):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visited, queue = set(), deque([start])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visited.add(start)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queue: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queue.popleft()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order.append(node)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nb in graph[node]: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nb not in visited: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visited.add(nb)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queue.append(nb)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154680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3191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DFS — Depth First Search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3410712"/>
            <a:ext cx="39776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dfs(graph, start, visited=None):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visited is None: visited = set()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visited.add(start)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[start]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nb in graph[start]: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nb not in visited: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 += dfs(graph,nb,visited)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Iterative DFS with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dfs_iter(graph, start):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stack, visited, order = [start],set(),[]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stack: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stack.pop()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 not in visited: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visited.add(n); order.append(n)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stack.extend(graph[n])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Shortest Path  +  Topological Sort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50392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50392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86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Step Trace (from 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280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280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536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1536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536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792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1792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1792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048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048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2048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304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2304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2304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5603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25603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25603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B,D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850392"/>
            <a:ext cx="438912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850392"/>
            <a:ext cx="64008" cy="18288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905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90872" y="1261872"/>
            <a:ext cx="409651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min-heap (priority queue) for efficiency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always expands nearest unvisited node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O((V+E) log V) with binary heap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on non-negative edge weights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Bellman-Ford for negative weights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2788920"/>
            <a:ext cx="4846320" cy="2212848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28254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Dijkstra with heapq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044952"/>
            <a:ext cx="457200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dijkstra(graph, src):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 = {node: float('inf') for node in graph}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dist[src]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 = [(0, src)]   # (distance, 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pq: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d, u = heapq.heappop(pq)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 &gt; dist[u]: continue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v, w in graph[u]: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dist[u]+w &lt; dist[v]: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dist[v] = dist[u]+w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heapq.heappush(pq,(dist[v],v))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{'A':[('B',4),('C',2)], 'B':[('E',3)],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'C':[('D',1)], 'D':[('B',1),('E',3)], 'E':[]}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2788920"/>
            <a:ext cx="3639312" cy="2212848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94960" y="28254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Topological Sort (DFS)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4960" y="3044952"/>
            <a:ext cx="338328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topo_sort(graph):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in_deg = {u:0 for u in graph}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 in graph: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 in graph[u]: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in_deg[v] = in_deg.get(v,0)+1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deque([n for n in in_deg if in_deg[n]==0])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q.popleft()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order.append(node)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nb in graph[node]: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in_deg[nb] -=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in_deg[nb]==0: q.append(nb)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  # Kahn's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  —  Min-Heap · Max-Heap · heapq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Min-Heap Tree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024128"/>
            <a:ext cx="548640" cy="548640"/>
          </a:xfrm>
          <a:prstGeom prst="ellipse">
            <a:avLst/>
          </a:prstGeom>
          <a:solidFill>
            <a:srgbClr val="00D4E8">
              <a:alpha val="80000"/>
            </a:srgbClr>
          </a:solidFill>
          <a:ln w="254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548640" cy="548640"/>
          </a:xfrm>
          <a:prstGeom prst="ellipse">
            <a:avLst/>
          </a:prstGeom>
          <a:solidFill>
            <a:srgbClr val="3ECFA4">
              <a:alpha val="80000"/>
            </a:srgbClr>
          </a:solidFill>
          <a:ln w="25400">
            <a:solidFill>
              <a:srgbClr val="3EC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548640" cy="548640"/>
          </a:xfrm>
          <a:prstGeom prst="ellipse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2359152"/>
            <a:ext cx="548640" cy="548640"/>
          </a:xfrm>
          <a:prstGeom prst="ellipse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2359152"/>
            <a:ext cx="548640" cy="548640"/>
          </a:xfrm>
          <a:prstGeom prst="ellipse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08960" y="2359152"/>
            <a:ext cx="548640" cy="548640"/>
          </a:xfrm>
          <a:prstGeom prst="ellipse">
            <a:avLst/>
          </a:prstGeom>
          <a:solidFill>
            <a:srgbClr val="F5A623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1444752"/>
            <a:ext cx="0" cy="310896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444752"/>
            <a:ext cx="457200" cy="310896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2121408"/>
            <a:ext cx="0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7592" y="2121408"/>
            <a:ext cx="137160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15768" y="2121408"/>
            <a:ext cx="0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2121408"/>
            <a:ext cx="137160" cy="301752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Array: [1, 3, 5, 8, 6, 9, 7]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3310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Parent(i) = (i-1)//2   Left(i) = 2i+1   Right(i) = 2i+2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850392"/>
            <a:ext cx="4160520" cy="2377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850392"/>
            <a:ext cx="64008" cy="237744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90525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heapq Operations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133502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heapq.heappush(h, x)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78040" y="1335024"/>
            <a:ext cx="1664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x  →  O(log 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170078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heapq.heappop(h)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78040" y="1700784"/>
            <a:ext cx="1664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min   →  O(log 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9472" y="206654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heapq.heapify(lst)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78040" y="2066544"/>
            <a:ext cx="1664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heap→  O(n)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19472" y="243230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heapq.nsmallest(k,h)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78040" y="2432304"/>
            <a:ext cx="1664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smallest→  O(n+k log n)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279806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h[0]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78040" y="2798064"/>
            <a:ext cx="1664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min  →  O(1)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28600" y="3657600"/>
            <a:ext cx="8686800" cy="1325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369417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Max-Heap workaround (negate values) + k-th largest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913632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1, 4, 1, 5, 9, 2, 6]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max_heap = [-x for x in nums]; heapq.heapify(max_heap)   # negate for max-heap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print(-heapq.heappop(max_heap))  # 9  ← largest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k=3; print(heapq.nlargest(k, nums))  # [9,6,5]   k-th largest elements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Tables  —  O(1) Average Lookup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Function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1280160" cy="457200"/>
          </a:xfrm>
          <a:prstGeom prst="rect">
            <a:avLst/>
          </a:prstGeom>
          <a:solidFill>
            <a:srgbClr val="3ECFA4">
              <a:alpha val="75000"/>
            </a:srgbClr>
          </a:solidFill>
          <a:ln w="19050">
            <a:solidFill>
              <a:srgbClr val="3EC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618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1490472"/>
            <a:ext cx="45720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335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490472"/>
            <a:ext cx="36576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61872"/>
            <a:ext cx="502920" cy="45720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61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1280160" cy="457200"/>
          </a:xfrm>
          <a:prstGeom prst="rect">
            <a:avLst/>
          </a:prstGeom>
          <a:solidFill>
            <a:srgbClr val="3ECFA4">
              <a:alpha val="75000"/>
            </a:srgbClr>
          </a:solidFill>
          <a:ln w="19050">
            <a:solidFill>
              <a:srgbClr val="3EC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2130552"/>
            <a:ext cx="45720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19751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130552"/>
            <a:ext cx="36576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1901952"/>
            <a:ext cx="502920" cy="45720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1901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1280160" cy="457200"/>
          </a:xfrm>
          <a:prstGeom prst="rect">
            <a:avLst/>
          </a:prstGeom>
          <a:solidFill>
            <a:srgbClr val="3ECFA4">
              <a:alpha val="75000"/>
            </a:srgbClr>
          </a:solidFill>
          <a:ln w="19050">
            <a:solidFill>
              <a:srgbClr val="3ECF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42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"cherry"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2770632"/>
            <a:ext cx="45720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26151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2770632"/>
            <a:ext cx="365760" cy="0"/>
          </a:xfrm>
          <a:prstGeom prst="line">
            <a:avLst/>
          </a:prstGeom>
          <a:noFill/>
          <a:ln w="19050">
            <a:solidFill>
              <a:srgbClr val="7B8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542032"/>
            <a:ext cx="502920" cy="45720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5420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[2]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5468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→ Chaining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1261872"/>
            <a:ext cx="594360" cy="457200"/>
          </a:xfrm>
          <a:prstGeom prst="rect">
            <a:avLst/>
          </a:prstGeom>
          <a:solidFill>
            <a:srgbClr val="1C2B3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12618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1261872"/>
            <a:ext cx="914400" cy="457200"/>
          </a:xfrm>
          <a:prstGeom prst="rect">
            <a:avLst/>
          </a:prstGeom>
          <a:solidFill>
            <a:srgbClr val="00D4E8">
              <a:alpha val="65000"/>
            </a:srgbClr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1261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261872"/>
            <a:ext cx="868680" cy="457200"/>
          </a:xfrm>
          <a:prstGeom prst="rect">
            <a:avLst/>
          </a:prstGeom>
          <a:solidFill>
            <a:srgbClr val="FF6B6B">
              <a:alpha val="6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618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avocado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54680" y="1901952"/>
            <a:ext cx="594360" cy="457200"/>
          </a:xfrm>
          <a:prstGeom prst="rect">
            <a:avLst/>
          </a:prstGeom>
          <a:solidFill>
            <a:srgbClr val="1C2B3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19019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94760" y="1901952"/>
            <a:ext cx="914400" cy="457200"/>
          </a:xfrm>
          <a:prstGeom prst="rect">
            <a:avLst/>
          </a:prstGeom>
          <a:solidFill>
            <a:srgbClr val="00D4E8">
              <a:alpha val="65000"/>
            </a:srgbClr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1901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banana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54680" y="2542032"/>
            <a:ext cx="594360" cy="457200"/>
          </a:xfrm>
          <a:prstGeom prst="rect">
            <a:avLst/>
          </a:prstGeom>
          <a:solidFill>
            <a:srgbClr val="1C2B3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25420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94760" y="2542032"/>
            <a:ext cx="914400" cy="457200"/>
          </a:xfrm>
          <a:prstGeom prst="rect">
            <a:avLst/>
          </a:prstGeom>
          <a:solidFill>
            <a:srgbClr val="00D4E8">
              <a:alpha val="65000"/>
            </a:srgbClr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cherry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2743200"/>
            <a:ext cx="4434840" cy="2240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277977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Hash Table with chaining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2999232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HashTable: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size=10):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= size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self.table = [[] for _ in range(size)]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_hash(self, key):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hash(key) % self.size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set(self, key,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= self._hash(key)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item in self.table[h]: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item[0] == key: item[1]=val;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self.table[h].append([key, val])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get(self, key):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k, v in self.table[self._hash(key)]: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k == key: return 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2743200"/>
            <a:ext cx="4069080" cy="2240280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2743200"/>
            <a:ext cx="64008" cy="2240280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279806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Resolution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10912" y="321868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Chaining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10912" y="346557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bucket is a linked list. Simple, handles high load. Used in Python dict.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10912" y="37673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Addressing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10912" y="40142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probing: try next slot. Quadratic probing: i² offsets. Better cache.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10912" y="43159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10912" y="456285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second hash for step size. Reduces clustering vs linear probing.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Trie (Prefix Tree)  —  Autocomplete &amp; Word Search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04288" y="74980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7B8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749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143560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93008" y="143560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435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1115568"/>
            <a:ext cx="0" cy="42062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7652" y="116128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1115568"/>
            <a:ext cx="758952" cy="420624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3804" y="116128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15568" y="216712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167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1892808"/>
            <a:ext cx="0" cy="33832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189738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2852928"/>
            <a:ext cx="512064" cy="512064"/>
          </a:xfrm>
          <a:prstGeom prst="ellipse">
            <a:avLst/>
          </a:prstGeom>
          <a:solidFill>
            <a:srgbClr val="3ECFA4">
              <a:alpha val="85000"/>
            </a:srgbClr>
          </a:solidFill>
          <a:ln w="31750">
            <a:solidFill>
              <a:srgbClr val="3EC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55648" y="2852928"/>
            <a:ext cx="512064" cy="512064"/>
          </a:xfrm>
          <a:prstGeom prst="ellipse">
            <a:avLst/>
          </a:prstGeom>
          <a:solidFill>
            <a:srgbClr val="3ECFA4">
              <a:alpha val="85000"/>
            </a:srgbClr>
          </a:solidFill>
          <a:ln w="31750">
            <a:solidFill>
              <a:srgbClr val="3EC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88720" y="2587752"/>
            <a:ext cx="0" cy="329184"/>
          </a:xfrm>
          <a:prstGeom prst="line">
            <a:avLst/>
          </a:prstGeom>
          <a:noFill/>
          <a:ln w="19050">
            <a:solidFill>
              <a:srgbClr val="3EC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58775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54480" y="2587752"/>
            <a:ext cx="274320" cy="329184"/>
          </a:xfrm>
          <a:prstGeom prst="line">
            <a:avLst/>
          </a:prstGeom>
          <a:noFill/>
          <a:ln w="19050">
            <a:solidFill>
              <a:srgbClr val="3EC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7048" y="258775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" y="349300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" y="3493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" y="3273552"/>
            <a:ext cx="0" cy="2743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4612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" y="4114800"/>
            <a:ext cx="512064" cy="512064"/>
          </a:xfrm>
          <a:prstGeom prst="ellipse">
            <a:avLst/>
          </a:prstGeom>
          <a:solidFill>
            <a:srgbClr val="FF6B6B">
              <a:alpha val="85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" y="4114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31920"/>
            <a:ext cx="0" cy="256032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" y="389534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93008" y="2167128"/>
            <a:ext cx="512064" cy="512064"/>
          </a:xfrm>
          <a:prstGeom prst="ellipse">
            <a:avLst/>
          </a:prstGeom>
          <a:solidFill>
            <a:srgbClr val="162032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167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1892808"/>
            <a:ext cx="0" cy="338328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448" y="189738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93008" y="2852928"/>
            <a:ext cx="512064" cy="512064"/>
          </a:xfrm>
          <a:prstGeom prst="ellipse">
            <a:avLst/>
          </a:prstGeom>
          <a:solidFill>
            <a:srgbClr val="FF6B6B">
              <a:alpha val="85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749040" y="2587752"/>
            <a:ext cx="0" cy="329184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258775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0624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= end of word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Words: app, apt, apple, bat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850392"/>
            <a:ext cx="4343400" cy="4114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9160" y="8869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Trie Implementation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1115568"/>
            <a:ext cx="406908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TrieNode: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self.children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self.is_end   = False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 self.root = TrieNode()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insert(self, word):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 in word: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ch not in cur.children: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cur.children[ch] = TrieNode()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 = cur.children[ch]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cur.is_end = True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search(self, word):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 in word: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ch not in cur.children: return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 = cur.children[ch]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cur.is_end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starts_with(self, prefix):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 in prefix: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ch not in cur.children: return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 = cur.children[ch]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   # autocomplete: any word with this prefix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Trie()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['app','apple','apt','bat']: t.insert(w)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print(t.search('app'))       #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print(t.starts_with('ap'))   # True (autocomplete prefix)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14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Disjoint Set (Union-Find) + Segment Tree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50392"/>
            <a:ext cx="2057400" cy="15727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50392"/>
            <a:ext cx="2057400" cy="34747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86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find(x)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root of x's set.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path compression: O(α(n)) ≈ O(1)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1448" y="850392"/>
            <a:ext cx="2057400" cy="1572768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850392"/>
            <a:ext cx="20574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886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union(x,y)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26187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two sets.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union by rank: O(α(n)) ≈ O(1)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850392"/>
            <a:ext cx="2057400" cy="1572768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850392"/>
            <a:ext cx="2057400" cy="347472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886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connected(x,y)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126187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x and 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 same set.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67144" y="850392"/>
            <a:ext cx="2057400" cy="1572768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850392"/>
            <a:ext cx="20574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886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58584" y="126187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MST · Cycle detection · Network connectivity · Image segmentation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542032"/>
            <a:ext cx="4846320" cy="2468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578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Union-Find with Path Compression + Rank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798064"/>
            <a:ext cx="457200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UnionFind: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list(range(n))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self.rank   = [0] * 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find(self, x):        # path compression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self.parent[x] != x: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self.parent[x] = self.find(self.parent[x])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self.parent[x]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union(self, x, y):    # union by rank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rx, ry = self.find(x), self.find(y)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rx == ry: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self.rank[rx] &lt; self.rank[ry]: rx,ry = ry,rx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self.parent[ry] = rx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self.rank[rx]==self.rank[ry]: self.rank[rx]+=1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connected(self, x, 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self.find(x) == self.find(y)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542032"/>
            <a:ext cx="3639312" cy="2468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94960" y="25786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Segment Tree — Range Sum Query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798064"/>
            <a:ext cx="338328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SegTree: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arr):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 = len(arr)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self.tree = [0]*(4*self.n)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self.build(arr, 0, 0, self.n-1)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build(self, arr, node, s, 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s==e: self.tree[node]=arr[s];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mid=(s+e)//2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self.build(arr,2*node+1,s,mid)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self.build(arr,2*node+2,mid+1,e)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self.tree[node]=(self.tree[2*node+1]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+self.tree[2*node+2])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query(self, l, r, node=0, s=0, e=None):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 is None: e=self.n-1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r&lt;s or l&gt;e: return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l&lt;=s and e&lt;=r: return self.tree[node]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mid=(s+e)//2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(self.query(l,r,2*node+1,s,mid)+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self.query(l,r,2*node+2,mid+1,e))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Which Data Structure?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915400" cy="3840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Data Structure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When to Use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Best When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E8"/>
                          </a:solidFill>
                        </a:rPr>
                        <a:t>Python Built-in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E8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Undo/redo, brackets, DFS, call stack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LIFO order needed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or collections.deque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FA4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BFS, task scheduling, stream processing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FIFO / ordered processing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collections.deque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Linked List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Frequent insert/delete at head or middle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O(1) insert at known position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 class or deque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BST / AVL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Sorted data, range queries, ordered sets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Sorted + search + insert all needed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sortedcontainers.SortedList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Heap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E8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Priority queue, k-th largest/smallest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Always need min/max quickly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heapq module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Hash Table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FA4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Lookup, counting, caching, grouping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O(1) average access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 / collections.Counter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Trie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Autocomplete, prefix search, spell check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String prefix operations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 TrieNode class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Graph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Networks, paths, dependencies, maps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Connected nodes/edges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 of lists / networkx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Union-Find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F0F8"/>
                          </a:solidFill>
                        </a:rPr>
                        <a:t>Connectivity, MST, cycle detection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CFA4"/>
                          </a:solidFill>
                        </a:rPr>
                        <a:t>Dynamic component merging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 UnionFind class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Interview Problems &amp; Solutions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50392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50392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961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LRU Cache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05256"/>
            <a:ext cx="1005840" cy="237744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052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" y="1078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+ Doubly Linked List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1261872"/>
            <a:ext cx="40416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OrderedDict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LRUCache: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__init__(self,cap):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self.cap=cap; self.cache=OrderedDict()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get(self,key):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not in self.cache: return -1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self.cache.move_to_end(key)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self.cache[key]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put(self,key,val):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self.cache[key]=val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self.cache.move_to_end(key)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len(self.cache)&gt;self.cap: self.cache.popitem(0)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50392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50392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8961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K-th Largest Element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905256"/>
            <a:ext cx="1005840" cy="237744"/>
          </a:xfrm>
          <a:prstGeom prst="rect">
            <a:avLst/>
          </a:prstGeom>
          <a:solidFill>
            <a:srgbClr val="3ECFA4">
              <a:alpha val="75000"/>
            </a:srgbClr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9052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6592" y="1078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(heapq)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1261872"/>
            <a:ext cx="40416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findKthLargest(nums, 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 in nums: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heapq.heappush(heap, 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len(heap) &gt; 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heapq.heappop(heap)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heap[0]  # root = k-th largest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 [3,2,1,5,6,4], k=2 → 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16352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16352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2862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Search (Trie + DFS)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871216"/>
            <a:ext cx="1005840" cy="237744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8712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" y="3044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227832"/>
            <a:ext cx="40416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findWords(board, words):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trie = Trie()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 in words: trie.insert(w)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rows, cols = [], len(board), len(board[0])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dfs(node, i, j, path):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node.is_end: res.append(path)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i&lt;0 or j&lt;0 or i&gt;=rows or j&gt;=cols: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 = board[i][j]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ch=='#' or ch not in node.children: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board[i][j]='#'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di,dj in [(-1,0),(1,0),(0,-1),(0,1)]: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dfs(node.children[ch],i+di,j+dj,path+ch)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board[i][j]=ch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range(rows):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range(cols): dfs(trie.root,i,j,'')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16352"/>
            <a:ext cx="4251960" cy="1874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16352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862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 of Islands (BFS)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2871216"/>
            <a:ext cx="1005840" cy="237744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28712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36592" y="3044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BFS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3227832"/>
            <a:ext cx="40416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numIslands(grid):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grid: return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rows,cols,count = len(grid),len(grid[0]),0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bfs(r,c):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q=deque([(r,c)]); grid[r][c]='0'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q: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x,y=q.popleft()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dx,dy in [(-1,0),(1,0),(0,-1),(0,1)]: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nx,ny=x+dx,y+dy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0&lt;=nx&lt;rows and 0&lt;=ny&lt;cols and grid[nx][ny]=='1':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grid[nx][ny]='0'; q.append((nx,ny))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range(rows):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range(cols):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grid[r][c]=='1': bfs(r,c); count+=1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109728" cy="49606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Mastery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Structures in Python — Complete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7315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910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· bracket match · undo · DFS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73152" cy="594360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482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Queue/Deque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3042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· BFS · priority queue · scheduling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24912"/>
            <a:ext cx="7315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614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0175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insert · singly · doubly · circular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73152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74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BST/AVL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37307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 · O(log n) ops · self-balancing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151376"/>
            <a:ext cx="7315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187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44439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· heapq · k-th · priority queue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298448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ECFA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298448"/>
            <a:ext cx="73152" cy="594360"/>
          </a:xfrm>
          <a:prstGeom prst="rect">
            <a:avLst/>
          </a:prstGeom>
          <a:solidFill>
            <a:srgbClr val="3ECFA4"/>
          </a:solidFill>
          <a:ln w="12700">
            <a:solidFill>
              <a:srgbClr val="3ECF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3350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15910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· chaining · open addressing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011680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011680"/>
            <a:ext cx="7315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0482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23042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· autocomplete · O(m) search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724912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724912"/>
            <a:ext cx="73152" cy="594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7614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30175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BFS/DFS · Dijkstra · Topo-sort · connectivity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73152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474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Union-Find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28032" y="37307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MST · O(α) · path compression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151376"/>
            <a:ext cx="41148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E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151376"/>
            <a:ext cx="7315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4187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Tree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28032" y="44439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queries · O(log n) update/query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4506</Words>
  <Application>Microsoft Office PowerPoint</Application>
  <PresentationFormat>On-screen Show (16:9)</PresentationFormat>
  <Paragraphs>738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Structures in Python</dc:title>
  <dc:subject>PptxGenJS Presentation</dc:subject>
  <dc:creator>PptxGenJS</dc:creator>
  <cp:lastModifiedBy>Palani Karthikeyan</cp:lastModifiedBy>
  <cp:revision>2</cp:revision>
  <dcterms:created xsi:type="dcterms:W3CDTF">2026-03-09T03:14:18Z</dcterms:created>
  <dcterms:modified xsi:type="dcterms:W3CDTF">2026-03-09T03:21:42Z</dcterms:modified>
</cp:coreProperties>
</file>